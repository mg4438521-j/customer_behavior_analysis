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ato Bold"/>
      <p:regular r:id="rId17"/>
    </p:embeddedFont>
    <p:embeddedFont>
      <p:font typeface="La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across product categories, customer segments, and subscription behavior.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12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6146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064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26146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19064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48223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50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1271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Locations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48223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768206" y="31271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0553" y="3433688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96173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Customer Data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432494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396173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Purchase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49701" y="432494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Item, Category, Amount, Season, Discount, Shipping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38621"/>
            <a:ext cx="47876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1298600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6816" y="12942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56816" y="160072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250" y="2115443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1110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56816" y="241756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Median imputation for Review Rating; snake_case columns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250" y="293228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29278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56816" y="3234407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; dropped redundant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250" y="397594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6816" y="39715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56816" y="427806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Loaded cleaned DataFrame into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296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Male Customers Dominate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Male shoppers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over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2× more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than female customers ($75,191).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552748"/>
          </a:xfrm>
          <a:prstGeom prst="roundRect">
            <a:avLst>
              <a:gd name="adj" fmla="val 3847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73251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Male purchases outnumber female 2,652 vs. 1,248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68742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Product Ratings &amp; Discount Dependency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2410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33164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Most Discount-Dependent Products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676474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51981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Subscription &amp; Shipping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9845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Subscribers vs. Non-Subscribers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73%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of customers but similar avg spend (~$59).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1880592" cy="911647"/>
          </a:xfrm>
          <a:prstGeom prst="roundRect">
            <a:avLst>
              <a:gd name="adj" fmla="val 2333"/>
            </a:avLst>
          </a:prstGeom>
          <a:solidFill>
            <a:srgbClr val="EFECE6"/>
          </a:solidFill>
          <a:ln w="19050">
            <a:solidFill>
              <a:srgbClr val="CBC5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10510" y="2614240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Express Shipping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10510" y="2977455"/>
            <a:ext cx="1558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$60.48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72052" y="2453432"/>
            <a:ext cx="1880592" cy="911647"/>
          </a:xfrm>
          <a:prstGeom prst="roundRect">
            <a:avLst>
              <a:gd name="adj" fmla="val 2333"/>
            </a:avLst>
          </a:prstGeom>
          <a:solidFill>
            <a:srgbClr val="EFECE6"/>
          </a:solidFill>
          <a:ln w="19050">
            <a:solidFill>
              <a:srgbClr val="CBC5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32861" y="2614240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Standard Shipping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32861" y="2977455"/>
            <a:ext cx="1558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 $58.46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49685"/>
            <a:ext cx="43015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05273"/>
            <a:ext cx="2290465" cy="816843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8470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153543"/>
            <a:ext cx="2006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705273"/>
            <a:ext cx="2290539" cy="816843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8470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153543"/>
            <a:ext cx="20070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663875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28056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112145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25119" y="364018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Repeat buyers with &gt;5 purchases: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958 subscribers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2,518 non-subscribers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5683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6848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Young Adults Lead Spending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Young Adults contribute the highest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with other groups closely clustered around $55K–$59K.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552748"/>
          </a:xfrm>
          <a:prstGeom prst="roundRect">
            <a:avLst>
              <a:gd name="adj" fmla="val 3847"/>
            </a:avLst>
          </a:prstGeom>
          <a:solidFill>
            <a:srgbClr val="DBDBD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73251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 range in dataset: 18–70 years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14548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Power BI Dashboard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819894"/>
            <a:ext cx="5698331" cy="30594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7336" y="3972818"/>
            <a:ext cx="3703067" cy="386507"/>
          </a:xfrm>
          <a:prstGeom prst="roundRect">
            <a:avLst>
              <a:gd name="adj" fmla="val 4212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935831" y="4081314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3.9K Customers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613449" y="3972818"/>
            <a:ext cx="3703141" cy="386507"/>
          </a:xfrm>
          <a:prstGeom prst="roundRect">
            <a:avLst>
              <a:gd name="adj" fmla="val 4212"/>
            </a:avLst>
          </a:prstGeom>
          <a:solidFill>
            <a:srgbClr val="E5DFD2"/>
          </a:solidFill>
          <a:ln/>
        </p:spPr>
      </p:sp>
      <p:sp>
        <p:nvSpPr>
          <p:cNvPr id="7" name="Text 4"/>
          <p:cNvSpPr/>
          <p:nvPr/>
        </p:nvSpPr>
        <p:spPr>
          <a:xfrm>
            <a:off x="4721944" y="4081314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$59.76 Avg Purchase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7336" y="4442371"/>
            <a:ext cx="3703067" cy="386507"/>
          </a:xfrm>
          <a:prstGeom prst="roundRect">
            <a:avLst>
              <a:gd name="adj" fmla="val 4212"/>
            </a:avLst>
          </a:prstGeom>
          <a:solidFill>
            <a:srgbClr val="E5DFD2"/>
          </a:solidFill>
          <a:ln/>
        </p:spPr>
      </p:sp>
      <p:sp>
        <p:nvSpPr>
          <p:cNvPr id="9" name="Text 6"/>
          <p:cNvSpPr/>
          <p:nvPr/>
        </p:nvSpPr>
        <p:spPr>
          <a:xfrm>
            <a:off x="935831" y="455086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3.75 Avg Rating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3449" y="4442371"/>
            <a:ext cx="3703141" cy="386507"/>
          </a:xfrm>
          <a:prstGeom prst="roundRect">
            <a:avLst>
              <a:gd name="adj" fmla="val 4212"/>
            </a:avLst>
          </a:prstGeom>
          <a:solidFill>
            <a:srgbClr val="E5DFD2"/>
          </a:solidFill>
          <a:ln/>
        </p:spPr>
      </p:sp>
      <p:sp>
        <p:nvSpPr>
          <p:cNvPr id="11" name="Text 8"/>
          <p:cNvSpPr/>
          <p:nvPr/>
        </p:nvSpPr>
        <p:spPr>
          <a:xfrm>
            <a:off x="4721944" y="455086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27% Subscribers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52029"/>
            <a:ext cx="48674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07616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4076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1714128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224460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2244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253097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Reward repeat buyers toward "Loyal"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041303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041303"/>
            <a:ext cx="18499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334781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 sales lifts with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858146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56658" y="38581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456658" y="4164657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2026-06-05T16:05:56Z</dcterms:created>
  <dcterms:modified xsi:type="dcterms:W3CDTF">2026-06-05T16:05:56Z</dcterms:modified>
</cp:coreProperties>
</file>